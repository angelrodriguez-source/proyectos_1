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12191695" cy="6583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"/>
            <a:ext cx="12191695" cy="777240"/>
          </a:xfrm>
          <a:prstGeom prst="roundRect">
            <a:avLst>
              <a:gd name="adj" fmla="val 1500"/>
            </a:avLst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3200" b="1">
                <a:solidFill>
                  <a:srgbClr val="FFFFFF"/>
                </a:solidFill>
                <a:latin typeface="Sora"/>
              </a:defRPr>
            </a:pPr>
            <a:r>
              <a:t>BBVA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CDDEE"/>
                </a:solidFill>
                <a:latin typeface="Instrument Sans"/>
              </a:defRPr>
            </a:pPr>
            <a:r>
              <a:t>CIB · CF&amp;Banking · Geografías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45720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0">
                <a:solidFill>
                  <a:srgbClr val="AACCEE"/>
                </a:solidFill>
                <a:latin typeface="Instrument Sans"/>
              </a:defRPr>
            </a:pPr>
            <a:r>
              <a:t>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6048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E6E80"/>
                </a:solidFill>
                <a:latin typeface="Sora"/>
              </a:defRPr>
            </a:pPr>
            <a:r>
              <a:t>FY25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106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00D25"/>
                </a:solidFill>
                <a:latin typeface="Sora"/>
              </a:rPr>
              <a:t>29</a:t>
            </a:r>
            <a:r>
              <a:rPr sz="1000" b="0">
                <a:solidFill>
                  <a:srgbClr val="8E8EA0"/>
                </a:solidFill>
                <a:latin typeface="Sora"/>
              </a:rPr>
              <a:t> €MM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03248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00D25"/>
                </a:solidFill>
                <a:latin typeface="Sora"/>
              </a:defRPr>
            </a:pPr>
            <a:r>
              <a:t>400 Ftes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1198" y="1124712"/>
            <a:ext cx="19050" cy="722376"/>
          </a:xfrm>
          <a:prstGeom prst="roundRect">
            <a:avLst/>
          </a:prstGeom>
          <a:solidFill>
            <a:srgbClr val="E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8218" y="1146048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E6E80"/>
                </a:solidFill>
                <a:latin typeface="Sora"/>
              </a:defRPr>
            </a:pPr>
            <a:r>
              <a:t>FY26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218" y="13106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00D25"/>
                </a:solidFill>
                <a:latin typeface="Sora"/>
              </a:rPr>
              <a:t>38</a:t>
            </a:r>
            <a:r>
              <a:rPr sz="1000" b="0">
                <a:solidFill>
                  <a:srgbClr val="8E8EA0"/>
                </a:solidFill>
                <a:latin typeface="Sora"/>
              </a:rPr>
              <a:t> €MM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1603248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00D25"/>
                </a:solidFill>
                <a:latin typeface="Sora"/>
              </a:defRPr>
            </a:pPr>
            <a:r>
              <a:t>548 Ftes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5096" y="1124712"/>
            <a:ext cx="19050" cy="722376"/>
          </a:xfrm>
          <a:prstGeom prst="roundRect">
            <a:avLst/>
          </a:prstGeom>
          <a:solidFill>
            <a:srgbClr val="E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2116" y="1146048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E6E80"/>
                </a:solidFill>
                <a:latin typeface="Sora"/>
              </a:defRPr>
            </a:pPr>
            <a:r>
              <a:t>FY27 obj.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2116" y="13106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00D25"/>
                </a:solidFill>
                <a:latin typeface="Sora"/>
              </a:rPr>
              <a:t>47</a:t>
            </a:r>
            <a:r>
              <a:rPr sz="1000" b="0">
                <a:solidFill>
                  <a:srgbClr val="8E8EA0"/>
                </a:solidFill>
                <a:latin typeface="Sora"/>
              </a:rPr>
              <a:t> €MM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1603248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00D25"/>
                </a:solidFill>
                <a:latin typeface="Sora"/>
              </a:defRPr>
            </a:pPr>
            <a:r>
              <a:t>685 Ftes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2116" y="1786128"/>
            <a:ext cx="1645920" cy="182880"/>
          </a:xfrm>
          <a:prstGeom prst="roundRect">
            <a:avLst>
              <a:gd name="adj" fmla="val 50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2116" y="1786128"/>
            <a:ext cx="16459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04481"/>
                </a:solidFill>
                <a:latin typeface="Sora"/>
              </a:defRPr>
            </a:pPr>
            <a:r>
              <a:t>↑ +60% acumulado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6322" y="1965960"/>
            <a:ext cx="19050" cy="3291840"/>
          </a:xfrm>
          <a:prstGeom prst="roundRect">
            <a:avLst/>
          </a:prstGeom>
          <a:solidFill>
            <a:srgbClr val="E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20574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2075688"/>
            <a:ext cx="274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04481"/>
                </a:solidFill>
                <a:latin typeface="Sora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075688"/>
            <a:ext cx="2743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600" b="1">
                <a:solidFill>
                  <a:srgbClr val="004481"/>
                </a:solidFill>
                <a:latin typeface="Sora"/>
              </a:defRPr>
            </a:pPr>
            <a:r>
              <a:t>Estado Actual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60320"/>
            <a:ext cx="5090007" cy="8412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2633472"/>
            <a:ext cx="50800" cy="694944"/>
          </a:xfrm>
          <a:prstGeom prst="round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2615184"/>
            <a:ext cx="4815687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4481"/>
                </a:solidFill>
                <a:latin typeface="Instrument Sans"/>
              </a:defRPr>
            </a:pPr>
            <a:r>
              <a:t>Especialista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779776"/>
            <a:ext cx="4815687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00D25"/>
                </a:solidFill>
                <a:latin typeface="Sora"/>
              </a:defRPr>
            </a:pPr>
            <a:r>
              <a:t>PERCIBIDOS COMO ESPECIALISTA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999232"/>
            <a:ext cx="4815687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E3E4E"/>
                </a:solidFill>
                <a:latin typeface="Instrument Sans"/>
              </a:defRPr>
            </a:pPr>
            <a:r>
              <a:t>Aunque concentrada la expertise entre Ingeniería CIB, Riesgos Global y Finanzas.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20440"/>
            <a:ext cx="5090007" cy="8412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3593592"/>
            <a:ext cx="50800" cy="694944"/>
          </a:xfrm>
          <a:prstGeom prst="round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575304"/>
            <a:ext cx="4815687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4481"/>
                </a:solidFill>
                <a:latin typeface="Instrument Sans"/>
              </a:defRPr>
            </a:pPr>
            <a:r>
              <a:t>Posicionamiento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3739896"/>
            <a:ext cx="4815687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00D25"/>
                </a:solidFill>
                <a:latin typeface="Sora"/>
              </a:defRPr>
            </a:pPr>
            <a:r>
              <a:t>BUEN POSICIONAMIENTO PARA ESCALAR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3959352"/>
            <a:ext cx="4815687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E3E4E"/>
                </a:solidFill>
                <a:latin typeface="Instrument Sans"/>
              </a:defRPr>
            </a:pPr>
            <a:r>
              <a:t>Firmado contrato POST 2.0 para la práctica en Ingeniería Global, FARO para Riesgos y abiertos todos los necesarios para Geografías.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480560"/>
            <a:ext cx="5090007" cy="8412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" y="4553712"/>
            <a:ext cx="50800" cy="694944"/>
          </a:xfrm>
          <a:prstGeom prst="roundRect">
            <a:avLst/>
          </a:prstGeom>
          <a:solidFill>
            <a:srgbClr val="739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4535424"/>
            <a:ext cx="4815687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4481"/>
                </a:solidFill>
                <a:latin typeface="Instrument Sans"/>
              </a:defRPr>
            </a:pPr>
            <a:r>
              <a:t>Personas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4700016"/>
            <a:ext cx="4815687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00D25"/>
                </a:solidFill>
                <a:latin typeface="Sora"/>
              </a:defRPr>
            </a:pPr>
            <a:r>
              <a:t>BUENA ESTRUCTURA INICIAL DE PERSONAS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4919472"/>
            <a:ext cx="4815687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E3E4E"/>
                </a:solidFill>
                <a:latin typeface="Instrument Sans"/>
              </a:defRPr>
            </a:pPr>
            <a:r>
              <a:t>Con Conocimiento y Expertise para ir asumiendo nuevas responsabilidades en el crecimiento y nueva posición a coger.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61607" y="20574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FD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89039" y="2075688"/>
            <a:ext cx="274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EC683E"/>
                </a:solidFill>
                <a:latin typeface="Sora"/>
              </a:defRPr>
            </a:pPr>
            <a:r>
              <a:t>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3087" y="2075688"/>
            <a:ext cx="2743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600" b="1">
                <a:solidFill>
                  <a:srgbClr val="EC683E"/>
                </a:solidFill>
                <a:latin typeface="Sora"/>
              </a:defRPr>
            </a:pPr>
            <a:r>
              <a:t>Retos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61607" y="2560320"/>
            <a:ext cx="5181447" cy="8412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61607" y="2633472"/>
            <a:ext cx="50800" cy="694944"/>
          </a:xfrm>
          <a:prstGeom prst="roundRect">
            <a:avLst/>
          </a:prstGeom>
          <a:solidFill>
            <a:srgbClr val="EC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6199" y="2615184"/>
            <a:ext cx="4907127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EC683E"/>
                </a:solidFill>
                <a:latin typeface="Instrument Sans"/>
              </a:defRPr>
            </a:pPr>
            <a:r>
              <a:t>Ingeniería Global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6199" y="2779776"/>
            <a:ext cx="4907127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00D25"/>
                </a:solidFill>
                <a:latin typeface="Sora"/>
              </a:defRPr>
            </a:pPr>
            <a:r>
              <a:t>LIDERAR INGENIERÍA DE MANERA GLOBAL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6199" y="2999232"/>
            <a:ext cx="4907127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E3E4E"/>
                </a:solidFill>
                <a:latin typeface="Instrument Sans"/>
              </a:defRPr>
            </a:pPr>
            <a:r>
              <a:t>Llegar a ser proveedor en Ingeniería con relevancia de manera Global, sin perder la Esencia de Especialistas en CIB y manteniendo su liderazgo.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61607" y="3520440"/>
            <a:ext cx="5181447" cy="8412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61607" y="3593592"/>
            <a:ext cx="50800" cy="694944"/>
          </a:xfrm>
          <a:prstGeom prst="roundRect">
            <a:avLst/>
          </a:prstGeom>
          <a:solidFill>
            <a:srgbClr val="EC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6199" y="3575304"/>
            <a:ext cx="4907127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EC683E"/>
                </a:solidFill>
                <a:latin typeface="Instrument Sans"/>
              </a:defRPr>
            </a:pPr>
            <a:r>
              <a:t>Geografías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6199" y="3739896"/>
            <a:ext cx="4907127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00D25"/>
                </a:solidFill>
                <a:latin typeface="Sora"/>
              </a:defRPr>
            </a:pPr>
            <a:r>
              <a:t>SER RELEVANTES EN LAS GEOGRAFÍAS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6199" y="3959352"/>
            <a:ext cx="4907127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E3E4E"/>
                </a:solidFill>
                <a:latin typeface="Instrument Sans"/>
              </a:defRPr>
            </a:pPr>
            <a:r>
              <a:t>Desde el Escalado en México a estar en Perú y Colombia, acompañando la apertura de Brasil.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61607" y="4480560"/>
            <a:ext cx="5181447" cy="8412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61607" y="4553712"/>
            <a:ext cx="50800" cy="694944"/>
          </a:xfrm>
          <a:prstGeom prst="roundRect">
            <a:avLst/>
          </a:prstGeom>
          <a:solidFill>
            <a:srgbClr val="F4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6199" y="4535424"/>
            <a:ext cx="4907127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EC683E"/>
                </a:solidFill>
                <a:latin typeface="Instrument Sans"/>
              </a:defRPr>
            </a:pPr>
            <a:r>
              <a:t>Diversificación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6199" y="4700016"/>
            <a:ext cx="4907127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00D25"/>
                </a:solidFill>
                <a:latin typeface="Sora"/>
              </a:defRPr>
            </a:pPr>
            <a:r>
              <a:t>DIVERSIFICAR RESPECTO DE CIB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6199" y="4919472"/>
            <a:ext cx="4907127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E3E4E"/>
                </a:solidFill>
                <a:latin typeface="Instrument Sans"/>
              </a:defRPr>
            </a:pPr>
            <a:r>
              <a:t>Pasar del 80% a 60% sin dejar de crecer en CIB.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394960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6E6E80"/>
                </a:solidFill>
                <a:latin typeface="Instrument Sans"/>
              </a:defRPr>
            </a:pPr>
            <a:r>
              <a:t>ÁREAS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650992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650992"/>
            <a:ext cx="1645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strument Sans"/>
              </a:rPr>
              <a:t>CIB</a:t>
            </a:r>
            <a:r>
              <a:rPr sz="1300" b="0">
                <a:solidFill>
                  <a:srgbClr val="AACCEE"/>
                </a:solidFill>
                <a:latin typeface="Instrument Sans"/>
              </a:rPr>
              <a:t>  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86000" y="5650992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0" y="5650992"/>
            <a:ext cx="1645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strument Sans"/>
              </a:rPr>
              <a:t>CF &amp; Banking</a:t>
            </a:r>
            <a:r>
              <a:rPr sz="1300" b="0">
                <a:solidFill>
                  <a:srgbClr val="AACCEE"/>
                </a:solidFill>
                <a:latin typeface="Instrument Sans"/>
              </a:rPr>
              <a:t>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